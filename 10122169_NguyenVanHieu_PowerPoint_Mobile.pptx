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312" r:id="rId3"/>
    <p:sldId id="354" r:id="rId4"/>
    <p:sldId id="394" r:id="rId5"/>
    <p:sldId id="387" r:id="rId6"/>
    <p:sldId id="420" r:id="rId7"/>
    <p:sldId id="419" r:id="rId8"/>
    <p:sldId id="389" r:id="rId9"/>
    <p:sldId id="422" r:id="rId10"/>
    <p:sldId id="429" r:id="rId11"/>
    <p:sldId id="424" r:id="rId12"/>
    <p:sldId id="425" r:id="rId13"/>
    <p:sldId id="42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1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89900" autoAdjust="0"/>
  </p:normalViewPr>
  <p:slideViewPr>
    <p:cSldViewPr snapToGrid="0" snapToObjects="1">
      <p:cViewPr varScale="1">
        <p:scale>
          <a:sx n="76" d="100"/>
          <a:sy n="76" d="100"/>
        </p:scale>
        <p:origin x="188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3B452-0551-4BF7-A46E-24936A47AE59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F4042-519D-4663-A8E1-002F41C4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F4042-519D-4663-A8E1-002F41C4F0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8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46" y="861646"/>
            <a:ext cx="8572500" cy="5460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163533" y="6559062"/>
            <a:ext cx="995729" cy="2989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6572CDFC-CB1E-42F8-90F4-C6810610BF43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147" y="6559062"/>
            <a:ext cx="6873386" cy="298938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9262" y="6550271"/>
            <a:ext cx="703384" cy="298937"/>
          </a:xfrm>
        </p:spPr>
        <p:txBody>
          <a:bodyPr/>
          <a:lstStyle>
            <a:lvl1pPr algn="r">
              <a:defRPr/>
            </a:lvl1pPr>
          </a:lstStyle>
          <a:p>
            <a:fld id="{834A3715-FC91-284B-8702-1BAEDE956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A1B5D-B1B0-47FC-A35F-82026DF0DCD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46285"/>
            <a:ext cx="3886200" cy="51306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46285"/>
            <a:ext cx="3886200" cy="51306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BC3E-2DDB-448F-BEEF-01F819C123E6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391C9-5B68-4547-B8BA-70A3AC976D47}" type="datetime1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210A1-8013-496C-B1BC-D7361C7F34BF}" type="datetime1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3151319-0770-4AC2-8DC0-EE5C7253BF00}" type="datetime1">
              <a:rPr lang="en-US" smtClean="0"/>
              <a:pPr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4A3715-FC91-284B-8702-1BAEDE956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0230-7625-43C3-9A1C-4F7CAFC5FB5E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987426"/>
            <a:ext cx="4948877" cy="530786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732" y="987425"/>
            <a:ext cx="3271287" cy="53078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CF8C-3395-4C2A-AC56-E877AC26A5C6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B4D1-152D-4107-9FC5-F495CF47AA1E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905607"/>
            <a:ext cx="1971675" cy="5271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733" y="905607"/>
            <a:ext cx="5800725" cy="52713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C27E-296D-48D5-ADCA-9CE7A0EF2A9B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948E56-EC85-4888-870E-BBAE0C14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509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8C5B4E1-80C0-415E-88F8-422218ED8445}" type="datetime1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4A3715-FC91-284B-8702-1BAEDE956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7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4"/>
            <a:ext cx="9157648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de-DE" sz="2300" b="1" dirty="0">
                <a:latin typeface="Times New Roman" pitchFamily="18" charset="0"/>
                <a:cs typeface="Times New Roman" pitchFamily="18" charset="0"/>
              </a:rPr>
              <a:t>BỘ GIÁO DỤC VÀ ĐÀO TẠO</a:t>
            </a:r>
            <a:endParaRPr lang="vi-VN" sz="23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de-DE" sz="2300" b="1" dirty="0">
                <a:latin typeface="Times New Roman" pitchFamily="18" charset="0"/>
                <a:cs typeface="Times New Roman" pitchFamily="18" charset="0"/>
              </a:rPr>
              <a:t>TRƯỜNG ĐẠI HỌC SƯ PHẠM KỸ THUẬT HƯNG YÊN</a:t>
            </a:r>
          </a:p>
          <a:p>
            <a:pPr algn="ctr"/>
            <a:endParaRPr lang="vi-V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649" y="4075310"/>
            <a:ext cx="9143999" cy="506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2300" b="1" dirty="0">
                <a:latin typeface="Times New Roman" pitchFamily="18" charset="0"/>
                <a:cs typeface="Times New Roman" pitchFamily="18" charset="0"/>
              </a:rPr>
              <a:t>HƯỚNG DẪN: NGUYỄN HOÀNG ĐIỆP</a:t>
            </a:r>
            <a:endParaRPr lang="de-DE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364806"/>
            <a:ext cx="9157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BÀI TẬP LỚN</a:t>
            </a:r>
          </a:p>
          <a:p>
            <a:pPr algn="ctr"/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LẬP TRÌNH MOBILE CƠ BẢN</a:t>
            </a:r>
            <a:endParaRPr lang="vi-VN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13438"/>
            <a:ext cx="9144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2300" b="1" dirty="0">
                <a:latin typeface="Times New Roman" pitchFamily="18" charset="0"/>
                <a:cs typeface="Times New Roman" pitchFamily="18" charset="0"/>
              </a:rPr>
              <a:t>HƯNG YÊN - 2024</a:t>
            </a:r>
            <a:endParaRPr lang="vi-VN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D:\_Data_2019_2020\logo_utehy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71888" y="823025"/>
            <a:ext cx="1576017" cy="154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7283F-673E-4D41-B559-88AE992D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3F308-2D5A-4332-91D3-7DA7AA1E869C}" type="datetime1">
              <a:rPr lang="en-US" sz="1400" smtClean="0">
                <a:solidFill>
                  <a:schemeClr val="bg1"/>
                </a:solidFill>
              </a:rPr>
              <a:t>1/16/2025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636CB-DE9C-4E67-B84F-0CC58BD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692" y="6582602"/>
            <a:ext cx="518746" cy="259675"/>
          </a:xfrm>
        </p:spPr>
        <p:txBody>
          <a:bodyPr/>
          <a:lstStyle/>
          <a:p>
            <a:fld id="{834A3715-FC91-284B-8702-1BAEDE956EBF}" type="slidenum">
              <a:rPr lang="en-US" sz="1400" smtClean="0"/>
              <a:t>1</a:t>
            </a:fld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E98B8-D8E0-431B-8502-7BF9B9561CE6}"/>
              </a:ext>
            </a:extLst>
          </p:cNvPr>
          <p:cNvSpPr txBox="1"/>
          <p:nvPr/>
        </p:nvSpPr>
        <p:spPr>
          <a:xfrm>
            <a:off x="-6824" y="3350423"/>
            <a:ext cx="9157648" cy="53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XÂY DỰNG ỨNG DỤNG BÁN QUẦN ÁO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4272" y="4988580"/>
            <a:ext cx="9143999" cy="506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e-DE" sz="2300" b="1" dirty="0">
                <a:latin typeface="Times New Roman" pitchFamily="18" charset="0"/>
                <a:cs typeface="Times New Roman" pitchFamily="18" charset="0"/>
              </a:rPr>
              <a:t>TRÌNH BÀY: NGUYỄN VĂN HIẾU</a:t>
            </a:r>
            <a:endParaRPr lang="de-DE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0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err="1"/>
              <a:t>Nội</a:t>
            </a:r>
            <a:r>
              <a:rPr lang="en-US" sz="3200"/>
              <a:t> dung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884494" y="1621782"/>
            <a:ext cx="5863797" cy="556487"/>
            <a:chOff x="1530811" y="1145927"/>
            <a:chExt cx="5863797" cy="556487"/>
          </a:xfrm>
        </p:grpSpPr>
        <p:sp>
          <p:nvSpPr>
            <p:cNvPr id="6" name="AutoShape 9"/>
            <p:cNvSpPr>
              <a:spLocks noChangeArrowheads="1"/>
            </p:cNvSpPr>
            <p:nvPr/>
          </p:nvSpPr>
          <p:spPr bwMode="gray">
            <a:xfrm>
              <a:off x="2139404" y="1145927"/>
              <a:ext cx="5255204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folHlink">
                          <a:gamma/>
                          <a:tint val="0"/>
                          <a:invGamma/>
                        </a:schemeClr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tài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8"/>
            <p:cNvGrpSpPr/>
            <p:nvPr/>
          </p:nvGrpSpPr>
          <p:grpSpPr bwMode="auto">
            <a:xfrm>
              <a:off x="1530811" y="1183169"/>
              <a:ext cx="684791" cy="519245"/>
              <a:chOff x="2078" y="1387"/>
              <a:chExt cx="1615" cy="2201"/>
            </a:xfrm>
          </p:grpSpPr>
          <p:sp>
            <p:nvSpPr>
              <p:cNvPr id="16" name="Oval 19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Oval 20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Oval 21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" name="Oval 22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48BE67">
                      <a:gamma/>
                      <a:shade val="0"/>
                      <a:invGamma/>
                    </a:srgbClr>
                  </a:gs>
                  <a:gs pos="100000">
                    <a:srgbClr val="48BE67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" name="Oval 23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" name="Oval 24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rgbClr val="48BE67"/>
                  </a:gs>
                  <a:gs pos="100000">
                    <a:srgbClr val="48BE67">
                      <a:gamma/>
                      <a:shade val="4862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2339101" y="2449421"/>
            <a:ext cx="6022577" cy="519245"/>
            <a:chOff x="2338874" y="2308544"/>
            <a:chExt cx="6022577" cy="519245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gray">
            <a:xfrm>
              <a:off x="2936465" y="2309292"/>
              <a:ext cx="5424986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Cơ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sở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thuyết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Group 25"/>
            <p:cNvGrpSpPr/>
            <p:nvPr/>
          </p:nvGrpSpPr>
          <p:grpSpPr bwMode="auto">
            <a:xfrm>
              <a:off x="2338874" y="2308544"/>
              <a:ext cx="609100" cy="519245"/>
              <a:chOff x="2141" y="1387"/>
              <a:chExt cx="1459" cy="2201"/>
            </a:xfrm>
          </p:grpSpPr>
          <p:sp>
            <p:nvSpPr>
              <p:cNvPr id="23" name="Oval 26"/>
              <p:cNvSpPr>
                <a:spLocks noChangeArrowheads="1"/>
              </p:cNvSpPr>
              <p:nvPr/>
            </p:nvSpPr>
            <p:spPr bwMode="gray">
              <a:xfrm>
                <a:off x="2141" y="1708"/>
                <a:ext cx="142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Oval 27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8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Oval 29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Oval 30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8" name="Oval 31"/>
              <p:cNvSpPr>
                <a:spLocks noChangeArrowheads="1"/>
              </p:cNvSpPr>
              <p:nvPr/>
            </p:nvSpPr>
            <p:spPr bwMode="gray">
              <a:xfrm>
                <a:off x="2314" y="1387"/>
                <a:ext cx="1096" cy="2201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7" name="Group 46"/>
          <p:cNvGrpSpPr/>
          <p:nvPr/>
        </p:nvGrpSpPr>
        <p:grpSpPr>
          <a:xfrm>
            <a:off x="2378475" y="3346006"/>
            <a:ext cx="5800279" cy="529445"/>
            <a:chOff x="2412952" y="2735174"/>
            <a:chExt cx="5800279" cy="529445"/>
          </a:xfrm>
        </p:grpSpPr>
        <p:sp>
          <p:nvSpPr>
            <p:cNvPr id="36" name="AutoShape 7"/>
            <p:cNvSpPr>
              <a:spLocks noChangeArrowheads="1"/>
            </p:cNvSpPr>
            <p:nvPr/>
          </p:nvSpPr>
          <p:spPr bwMode="gray">
            <a:xfrm>
              <a:off x="3053031" y="2735174"/>
              <a:ext cx="5160200" cy="529445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folHlink">
                          <a:gamma/>
                          <a:tint val="0"/>
                          <a:invGamma/>
                        </a:schemeClr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thiết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thống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32"/>
            <p:cNvGrpSpPr/>
            <p:nvPr/>
          </p:nvGrpSpPr>
          <p:grpSpPr bwMode="auto">
            <a:xfrm>
              <a:off x="2412952" y="2742462"/>
              <a:ext cx="662016" cy="519245"/>
              <a:chOff x="2078" y="1387"/>
              <a:chExt cx="1615" cy="2201"/>
            </a:xfrm>
          </p:grpSpPr>
          <p:sp>
            <p:nvSpPr>
              <p:cNvPr id="38" name="Oval 33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Oval 34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Oval 35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Oval 36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8D67E1">
                      <a:gamma/>
                      <a:shade val="0"/>
                      <a:invGamma/>
                    </a:srgbClr>
                  </a:gs>
                  <a:gs pos="100000">
                    <a:srgbClr val="8D67E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" name="Oval 37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" name="Oval 38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4" name="AutoShape 4"/>
          <p:cNvSpPr>
            <a:spLocks noChangeArrowheads="1"/>
          </p:cNvSpPr>
          <p:nvPr/>
        </p:nvSpPr>
        <p:spPr bwMode="ltGray">
          <a:xfrm rot="5400000">
            <a:off x="-2403921" y="1239529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 algn="ctr">
            <a:solidFill>
              <a:srgbClr val="B3ABE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AutoShape 5"/>
          <p:cNvSpPr>
            <a:spLocks noChangeArrowheads="1"/>
          </p:cNvSpPr>
          <p:nvPr/>
        </p:nvSpPr>
        <p:spPr bwMode="ltGray">
          <a:xfrm rot="5400000" flipH="1">
            <a:off x="-1998313" y="1675297"/>
            <a:ext cx="4032250" cy="3929063"/>
          </a:xfrm>
          <a:custGeom>
            <a:avLst/>
            <a:gdLst>
              <a:gd name="G0" fmla="+- 56 0 0"/>
              <a:gd name="G1" fmla="+- 11796480 0 0"/>
              <a:gd name="G2" fmla="+- 0 0 11796480"/>
              <a:gd name="T0" fmla="*/ 0 256 1"/>
              <a:gd name="T1" fmla="*/ 180 256 1"/>
              <a:gd name="G3" fmla="+- 11796480 T0 T1"/>
              <a:gd name="T2" fmla="*/ 0 256 1"/>
              <a:gd name="T3" fmla="*/ 90 256 1"/>
              <a:gd name="G4" fmla="+- 11796480 T2 T3"/>
              <a:gd name="G5" fmla="*/ G4 2 1"/>
              <a:gd name="T4" fmla="*/ 90 256 1"/>
              <a:gd name="T5" fmla="*/ 0 256 1"/>
              <a:gd name="G6" fmla="+- 11796480 T4 T5"/>
              <a:gd name="G7" fmla="*/ G6 2 1"/>
              <a:gd name="G8" fmla="abs 1179648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56"/>
              <a:gd name="G18" fmla="*/ 56 1 2"/>
              <a:gd name="G19" fmla="+- G18 5400 0"/>
              <a:gd name="G20" fmla="cos G19 11796480"/>
              <a:gd name="G21" fmla="sin G19 11796480"/>
              <a:gd name="G22" fmla="+- G20 10800 0"/>
              <a:gd name="G23" fmla="+- G21 10800 0"/>
              <a:gd name="G24" fmla="+- 10800 0 G20"/>
              <a:gd name="G25" fmla="+- 56 10800 0"/>
              <a:gd name="G26" fmla="?: G9 G17 G25"/>
              <a:gd name="G27" fmla="?: G9 0 21600"/>
              <a:gd name="G28" fmla="cos 10800 11796480"/>
              <a:gd name="G29" fmla="sin 10800 11796480"/>
              <a:gd name="G30" fmla="sin 56 11796480"/>
              <a:gd name="G31" fmla="+- G28 10800 0"/>
              <a:gd name="G32" fmla="+- G29 10800 0"/>
              <a:gd name="G33" fmla="+- G30 10800 0"/>
              <a:gd name="G34" fmla="?: G4 0 G31"/>
              <a:gd name="G35" fmla="?: 11796480 G34 0"/>
              <a:gd name="G36" fmla="?: G6 G35 G31"/>
              <a:gd name="G37" fmla="+- 21600 0 G36"/>
              <a:gd name="G38" fmla="?: G4 0 G33"/>
              <a:gd name="G39" fmla="?: 1179648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372 w 21600"/>
              <a:gd name="T15" fmla="*/ 10800 h 21600"/>
              <a:gd name="T16" fmla="*/ 10800 w 21600"/>
              <a:gd name="T17" fmla="*/ 10744 h 21600"/>
              <a:gd name="T18" fmla="*/ 16228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t>2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2312799" y="4209245"/>
            <a:ext cx="5635447" cy="529445"/>
            <a:chOff x="2429138" y="4117051"/>
            <a:chExt cx="5635447" cy="529445"/>
          </a:xfrm>
        </p:grpSpPr>
        <p:sp>
          <p:nvSpPr>
            <p:cNvPr id="3" name="AutoShape 7"/>
            <p:cNvSpPr>
              <a:spLocks noChangeArrowheads="1"/>
            </p:cNvSpPr>
            <p:nvPr/>
          </p:nvSpPr>
          <p:spPr bwMode="gray">
            <a:xfrm>
              <a:off x="3069217" y="4117051"/>
              <a:ext cx="4995368" cy="529445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folHlink">
                          <a:gamma/>
                          <a:tint val="0"/>
                          <a:invGamma/>
                        </a:schemeClr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Triển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khai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32"/>
            <p:cNvGrpSpPr/>
            <p:nvPr/>
          </p:nvGrpSpPr>
          <p:grpSpPr bwMode="auto">
            <a:xfrm>
              <a:off x="2429138" y="4124339"/>
              <a:ext cx="662016" cy="519245"/>
              <a:chOff x="2078" y="1387"/>
              <a:chExt cx="1615" cy="2201"/>
            </a:xfrm>
          </p:grpSpPr>
          <p:sp>
            <p:nvSpPr>
              <p:cNvPr id="8" name="Oval 33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Oval 34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Oval 35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Oval 36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8D67E1">
                      <a:gamma/>
                      <a:shade val="0"/>
                      <a:invGamma/>
                    </a:srgbClr>
                  </a:gs>
                  <a:gs pos="100000">
                    <a:srgbClr val="8D67E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" name="Oval 37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Oval 38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0" name="Group 49"/>
          <p:cNvGrpSpPr/>
          <p:nvPr/>
        </p:nvGrpSpPr>
        <p:grpSpPr>
          <a:xfrm>
            <a:off x="1926727" y="5054795"/>
            <a:ext cx="5635447" cy="529445"/>
            <a:chOff x="2429138" y="4117051"/>
            <a:chExt cx="5635447" cy="529445"/>
          </a:xfrm>
        </p:grpSpPr>
        <p:sp>
          <p:nvSpPr>
            <p:cNvPr id="51" name="AutoShape 7"/>
            <p:cNvSpPr>
              <a:spLocks noChangeArrowheads="1"/>
            </p:cNvSpPr>
            <p:nvPr/>
          </p:nvSpPr>
          <p:spPr bwMode="gray">
            <a:xfrm>
              <a:off x="3069217" y="4117051"/>
              <a:ext cx="4995368" cy="529445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folHlink">
                          <a:gamma/>
                          <a:tint val="0"/>
                          <a:invGamma/>
                        </a:schemeClr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Demo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Group 32"/>
            <p:cNvGrpSpPr/>
            <p:nvPr/>
          </p:nvGrpSpPr>
          <p:grpSpPr bwMode="auto">
            <a:xfrm>
              <a:off x="2429138" y="4124339"/>
              <a:ext cx="662016" cy="519245"/>
              <a:chOff x="2078" y="1387"/>
              <a:chExt cx="1615" cy="2201"/>
            </a:xfrm>
          </p:grpSpPr>
          <p:sp>
            <p:nvSpPr>
              <p:cNvPr id="53" name="Oval 33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34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" name="Oval 36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8D67E1">
                      <a:gamma/>
                      <a:shade val="0"/>
                      <a:invGamma/>
                    </a:srgbClr>
                  </a:gs>
                  <a:gs pos="100000">
                    <a:srgbClr val="8D67E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Oval 37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" name="Oval 38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947557" y="5828225"/>
            <a:ext cx="5635447" cy="529445"/>
            <a:chOff x="2429138" y="4117051"/>
            <a:chExt cx="5635447" cy="529445"/>
          </a:xfrm>
        </p:grpSpPr>
        <p:sp>
          <p:nvSpPr>
            <p:cNvPr id="29" name="AutoShape 7"/>
            <p:cNvSpPr>
              <a:spLocks noChangeArrowheads="1"/>
            </p:cNvSpPr>
            <p:nvPr/>
          </p:nvSpPr>
          <p:spPr bwMode="gray">
            <a:xfrm>
              <a:off x="3069217" y="4117051"/>
              <a:ext cx="4995368" cy="529445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folHlink">
                          <a:gamma/>
                          <a:tint val="0"/>
                          <a:invGamma/>
                        </a:schemeClr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" name="Group 32"/>
            <p:cNvGrpSpPr/>
            <p:nvPr/>
          </p:nvGrpSpPr>
          <p:grpSpPr bwMode="auto">
            <a:xfrm>
              <a:off x="2429138" y="4124339"/>
              <a:ext cx="662016" cy="519245"/>
              <a:chOff x="2078" y="1387"/>
              <a:chExt cx="1615" cy="2201"/>
            </a:xfrm>
          </p:grpSpPr>
          <p:sp>
            <p:nvSpPr>
              <p:cNvPr id="31" name="Oval 33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Oval 34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Oval 35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Oval 36"/>
              <p:cNvSpPr>
                <a:spLocks noChangeArrowheads="1"/>
              </p:cNvSpPr>
              <p:nvPr/>
            </p:nvSpPr>
            <p:spPr bwMode="gray">
              <a:xfrm>
                <a:off x="2254" y="1387"/>
                <a:ext cx="1101" cy="2201"/>
              </a:xfrm>
              <a:prstGeom prst="ellipse">
                <a:avLst/>
              </a:prstGeom>
              <a:gradFill rotWithShape="1">
                <a:gsLst>
                  <a:gs pos="0">
                    <a:srgbClr val="8D67E1">
                      <a:gamma/>
                      <a:shade val="0"/>
                      <a:invGamma/>
                    </a:srgbClr>
                  </a:gs>
                  <a:gs pos="100000">
                    <a:srgbClr val="8D67E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Oval 37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" name="Oval 38"/>
              <p:cNvSpPr>
                <a:spLocks noChangeArrowheads="1"/>
              </p:cNvSpPr>
              <p:nvPr/>
            </p:nvSpPr>
            <p:spPr bwMode="gray">
              <a:xfrm>
                <a:off x="2337" y="1387"/>
                <a:ext cx="1096" cy="2201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 TỔNG QUAN ĐỀ TÀI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1" y="5209192"/>
            <a:ext cx="9143999" cy="54771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50000"/>
              </a:lnSpc>
            </a:pP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-27993" y="933062"/>
            <a:ext cx="9143999" cy="6209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Các cửa </a:t>
            </a:r>
            <a:r>
              <a:rPr lang="en-US" sz="2300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hàng</a:t>
            </a:r>
            <a:r>
              <a:rPr lang="en-US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bán</a:t>
            </a:r>
            <a:r>
              <a:rPr lang="en-US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quần</a:t>
            </a:r>
            <a:r>
              <a:rPr lang="en-US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áo</a:t>
            </a:r>
            <a:r>
              <a:rPr lang="en-US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3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gần như có mặt ở khắp mọi nơi nên việc phân tích thiết kế ra một hệ thống để quản lý là rất cần thiết với các chủ cửa hàng.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đó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em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đã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thực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hiện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bài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tập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lớn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“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Xây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dựng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ứng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dụng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án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quần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áo</a:t>
            </a:r>
            <a:r>
              <a:rPr lang="vi-VN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”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giúp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người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chủ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đưa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các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sản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phẩm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của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mình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lên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ứng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dụng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và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quản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lí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sản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phẩm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bằng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ứng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dụng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đó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Khách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hàng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có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thể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đặt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mua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hàng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trên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ứng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dụng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mà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không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cần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trực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tiếp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đến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cửa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hàng</a:t>
            </a:r>
            <a:r>
              <a:rPr lang="en-US" sz="23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en-US" sz="2300" dirty="0">
              <a:solidFill>
                <a:srgbClr val="0D0D0D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300" b="1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Mục</a:t>
            </a:r>
            <a:r>
              <a:rPr lang="en-US" sz="2300" b="1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b="1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tiêu</a:t>
            </a:r>
            <a:r>
              <a:rPr lang="en-US" sz="2300" b="1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b="1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đề</a:t>
            </a:r>
            <a:r>
              <a:rPr lang="en-US" sz="2300" b="1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300" b="1" dirty="0" err="1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tài</a:t>
            </a:r>
            <a:r>
              <a:rPr lang="en-US" sz="2300" b="1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ra một phần mềm linh hoạt và tiện ích.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Giảm bớt công sức và thời gian cho các hoạt động quản lý.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hoạt động kinh doanh của cửa hàng.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vi-VN" sz="2300" dirty="0">
              <a:latin typeface="Times New Roman" panose="02020603050405020304"/>
              <a:cs typeface="Times New Roman" panose="020206030504050203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2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PHÂN TÍCH THIẾT KẾ HỆ THỐNG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0" y="597876"/>
            <a:ext cx="914399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789415"/>
              </p:ext>
            </p:extLst>
          </p:nvPr>
        </p:nvGraphicFramePr>
        <p:xfrm>
          <a:off x="655608" y="1509623"/>
          <a:ext cx="7728267" cy="3764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8437">
                  <a:extLst>
                    <a:ext uri="{9D8B030D-6E8A-4147-A177-3AD203B41FA5}">
                      <a16:colId xmlns:a16="http://schemas.microsoft.com/office/drawing/2014/main" val="2521334477"/>
                    </a:ext>
                  </a:extLst>
                </a:gridCol>
                <a:gridCol w="6899830">
                  <a:extLst>
                    <a:ext uri="{9D8B030D-6E8A-4147-A177-3AD203B41FA5}">
                      <a16:colId xmlns:a16="http://schemas.microsoft.com/office/drawing/2014/main" val="1061338033"/>
                    </a:ext>
                  </a:extLst>
                </a:gridCol>
              </a:tblGrid>
              <a:tr h="4837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STT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thống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9326891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aseline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phẩm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4266979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3436440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196170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nhà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324646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2846779"/>
                  </a:ext>
                </a:extLst>
              </a:tr>
              <a:tr h="546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3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763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75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PHÂN TÍCH THIẾT KẾ HỆ THỐNG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0" y="466287"/>
            <a:ext cx="9143999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455F50D-12F7-24AF-33A1-49D0B8B01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9" y="1231056"/>
            <a:ext cx="6816419" cy="509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57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PHÂN TÍCH THIẾT KẾ HỆ THỐNG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0" y="466287"/>
            <a:ext cx="9143999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3615C6F-972C-4361-3DC0-7AA8D7170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524" y="1547813"/>
            <a:ext cx="6160560" cy="415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14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PHÂN TÍCH THIẾT KẾ HỆ THỐNG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0" y="466287"/>
            <a:ext cx="9143999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B0BC52-6533-A739-1BDE-664648A83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5" y="1320227"/>
            <a:ext cx="7684873" cy="468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43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THIẾT KẾ GIAO DIỆN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1" y="597876"/>
            <a:ext cx="9143999" cy="55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7" descr="A collage of clothes&#10;&#10;Description automatically generated">
            <a:extLst>
              <a:ext uri="{FF2B5EF4-FFF2-40B4-BE49-F238E27FC236}">
                <a16:creationId xmlns:a16="http://schemas.microsoft.com/office/drawing/2014/main" id="{9547591C-23FF-2003-D41C-B9CA43E1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925" y="720551"/>
            <a:ext cx="2828611" cy="61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38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THIẾT KẾ GIAO DIỆN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2" y="597876"/>
            <a:ext cx="9143999" cy="55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 descr="A screenshot of a screenshot of a person's clothing&#10;&#10;Description automatically generated">
            <a:extLst>
              <a:ext uri="{FF2B5EF4-FFF2-40B4-BE49-F238E27FC236}">
                <a16:creationId xmlns:a16="http://schemas.microsoft.com/office/drawing/2014/main" id="{9985451E-4D67-D8DF-8D0E-AEA9C9977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19" y="620486"/>
            <a:ext cx="2878852" cy="62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5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748E-CC17-C734-A7B7-65E69C7B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981E83-0767-E0A3-5153-1B141946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THIẾT KẾ GIAO DIỆN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4FBAAF-A0D2-0146-6920-A16815D1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6CD90-A723-D4AB-B700-C2C8B943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62BAE-B6F0-6E5E-1082-6CFB05F7B23B}"/>
              </a:ext>
            </a:extLst>
          </p:cNvPr>
          <p:cNvSpPr txBox="1"/>
          <p:nvPr/>
        </p:nvSpPr>
        <p:spPr>
          <a:xfrm>
            <a:off x="2" y="589085"/>
            <a:ext cx="9143999" cy="55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DE269C-77D1-6708-7B0C-78EB3B3B2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51" y="580293"/>
            <a:ext cx="2893346" cy="626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40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THIẾT KẾ GIAO DIỆN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7B151-285F-5090-04D7-1D4405687B89}"/>
              </a:ext>
            </a:extLst>
          </p:cNvPr>
          <p:cNvSpPr txBox="1"/>
          <p:nvPr/>
        </p:nvSpPr>
        <p:spPr>
          <a:xfrm>
            <a:off x="0" y="597876"/>
            <a:ext cx="9143999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6CE3F-7AAA-F820-C5A0-D71C69C2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327" y="597876"/>
            <a:ext cx="2889288" cy="626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26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5. DEMO CHƯƠNG TRÌNH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26163" y="2808514"/>
            <a:ext cx="5651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CHẠY CHƯƠNG TRÌNH</a:t>
            </a:r>
          </a:p>
        </p:txBody>
      </p:sp>
    </p:spTree>
    <p:extLst>
      <p:ext uri="{BB962C8B-B14F-4D97-AF65-F5344CB8AC3E}">
        <p14:creationId xmlns:p14="http://schemas.microsoft.com/office/powerpoint/2010/main" val="1476019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EAAF1B-D99C-40FF-ADE2-F63EC78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8246" cy="589085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6. KẾT LUẬN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B9653-1BDD-478E-BD5F-F378BBB2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6AC4-B00E-4E62-8F8E-32705CCDC943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4624B-294A-4CD6-ACE1-E79D9D9D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A3715-FC91-284B-8702-1BAEDE956E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4697014"/>
            <a:ext cx="9144000" cy="1391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Nâng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tính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năng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trải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dùng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Cải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thiện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trải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dùng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bổ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sung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thêm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tính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năng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mới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để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thu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hút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hàng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tăng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doanh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số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bán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hàng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739755"/>
            <a:ext cx="9144000" cy="185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Hạn chế: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Cạnh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Lĩnh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vực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bán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quần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áo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tuyến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đang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có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sự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cạnh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từ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nhiều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đối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thủ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khác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nhau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do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đó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đòi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hỏi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bài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tập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lớn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có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chiến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lược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marketing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kinh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doanh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phù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hợp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để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thu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hút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hàng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8609"/>
            <a:ext cx="9144000" cy="2006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đạt được:</a:t>
            </a:r>
          </a:p>
          <a:p>
            <a:pPr marL="342900" lvl="0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kế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giao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diện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quan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thu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hút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hàng</a:t>
            </a:r>
            <a:endParaRPr lang="en-US" sz="20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kế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logo, banner,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hình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ảnh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sản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phẩm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đẹp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mắt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chất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cao</a:t>
            </a:r>
            <a:endParaRPr lang="en-US" sz="20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Đảm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bảo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tính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thẩm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mỹ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của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ứng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dễ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nhìn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dễ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sử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dụng</a:t>
            </a:r>
            <a:endParaRPr lang="en-US" sz="20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556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2419"/>
            <a:ext cx="915764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 XIN CHÂN THÀNH CẢM ƠN CÁC THẦY CÔ VÀ  CÁC BẠN ĐÃ CHÚ Ý LẮNG NGHE</a:t>
            </a:r>
            <a:endParaRPr lang="vi-VN" sz="29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8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de Bảo vệ đề cương thạc sĩ - Lương Xuân Hồng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 Presentation template.potx" id="{511E03BE-EAEB-4743-A5CB-D2876A9DC662}" vid="{4CEDF3E2-1B19-443F-B9CA-585E14BC8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4180</TotalTime>
  <Words>596</Words>
  <Application>Microsoft Office PowerPoint</Application>
  <PresentationFormat>On-screen Show (4:3)</PresentationFormat>
  <Paragraphs>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Slide Bảo vệ đề cương thạc sĩ - Lương Xuân Hồng</vt:lpstr>
      <vt:lpstr>PowerPoint Presentation</vt:lpstr>
      <vt:lpstr>Nội dung</vt:lpstr>
      <vt:lpstr>1. TỔNG QUAN ĐỀ TÀI</vt:lpstr>
      <vt:lpstr>2. PHÂN TÍCH THIẾT KẾ HỆ THỐNG</vt:lpstr>
      <vt:lpstr>2. PHÂN TÍCH THIẾT KẾ HỆ THỐNG (Tiếp)</vt:lpstr>
      <vt:lpstr>2. PHÂN TÍCH THIẾT KẾ HỆ THỐNG (Tiếp)</vt:lpstr>
      <vt:lpstr>2. PHÂN TÍCH THIẾT KẾ HỆ THỐNG (Tiếp)</vt:lpstr>
      <vt:lpstr>4. THIẾT KẾ GIAO DIỆN</vt:lpstr>
      <vt:lpstr>4. THIẾT KẾ GIAO DIỆN (Tiếp)</vt:lpstr>
      <vt:lpstr>4. THIẾT KẾ GIAO DIỆN (Tiếp)</vt:lpstr>
      <vt:lpstr>4. THIẾT KẾ GIAO DIỆN (Tiếp)</vt:lpstr>
      <vt:lpstr>5. DEMO CHƯƠNG TRÌNH</vt:lpstr>
      <vt:lpstr>6. KẾT LUẬN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SONGNGOC</dc:creator>
  <cp:lastModifiedBy>hieu nguyen</cp:lastModifiedBy>
  <cp:revision>169</cp:revision>
  <dcterms:created xsi:type="dcterms:W3CDTF">2021-05-24T03:25:10Z</dcterms:created>
  <dcterms:modified xsi:type="dcterms:W3CDTF">2025-01-16T02:55:13Z</dcterms:modified>
</cp:coreProperties>
</file>